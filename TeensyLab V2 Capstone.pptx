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Playfair Display"/>
      <p:regular r:id="rId26"/>
      <p:bold r:id="rId27"/>
      <p:italic r:id="rId28"/>
      <p:boldItalic r:id="rId29"/>
    </p:embeddedFont>
    <p:embeddedFont>
      <p:font typeface="Lato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layfairDisplay-regular.fntdata"/><Relationship Id="rId25" Type="http://schemas.openxmlformats.org/officeDocument/2006/relationships/slide" Target="slides/slide20.xml"/><Relationship Id="rId28" Type="http://schemas.openxmlformats.org/officeDocument/2006/relationships/font" Target="fonts/PlayfairDisplay-italic.fntdata"/><Relationship Id="rId27" Type="http://schemas.openxmlformats.org/officeDocument/2006/relationships/font" Target="fonts/PlayfairDisplay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layfairDisplay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bold.fntdata"/><Relationship Id="rId30" Type="http://schemas.openxmlformats.org/officeDocument/2006/relationships/font" Target="fonts/Lato-regular.fntdata"/><Relationship Id="rId11" Type="http://schemas.openxmlformats.org/officeDocument/2006/relationships/slide" Target="slides/slide6.xml"/><Relationship Id="rId33" Type="http://schemas.openxmlformats.org/officeDocument/2006/relationships/font" Target="fonts/Lato-boldItalic.fntdata"/><Relationship Id="rId10" Type="http://schemas.openxmlformats.org/officeDocument/2006/relationships/slide" Target="slides/slide5.xml"/><Relationship Id="rId32" Type="http://schemas.openxmlformats.org/officeDocument/2006/relationships/font" Target="fonts/La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db25a66e67_1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db25a66e67_1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ff943be4ce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1ff943be4c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db3bebc5c0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db3bebc5c0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db25a66e67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db25a66e67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db25a66e67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db25a66e67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db25a66e67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db25a66e67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db25a66e67_1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db25a66e67_1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db25a66e67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2db25a66e67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ff943be4ce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1ff943be4ce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ff943be4ce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1ff943be4ce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db25a66e67_1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db25a66e67_1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db25a66e67_1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db25a66e67_1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db25a66e67_1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db25a66e67_1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db25a66e67_1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2db25a66e67_1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db25a66e67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db25a66e67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db3bebc5c0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db3bebc5c0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db3bebc5c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db3bebc5c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db3bebc5c0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2db3bebc5c0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db3bebc5c0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2db3bebc5c0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" name="Google Shape;12;p2"/>
          <p:cNvCxnSpPr/>
          <p:nvPr/>
        </p:nvCxnSpPr>
        <p:spPr>
          <a:xfrm>
            <a:off x="733219" y="2235351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630600" y="136800"/>
            <a:ext cx="7893000" cy="185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630600" y="3228375"/>
            <a:ext cx="7893000" cy="127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 txBox="1"/>
          <p:nvPr>
            <p:ph type="title"/>
          </p:nvPr>
        </p:nvSpPr>
        <p:spPr>
          <a:xfrm>
            <a:off x="509550" y="1921350"/>
            <a:ext cx="8124900" cy="130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/>
        </p:nvSpPr>
        <p:spPr>
          <a:xfrm>
            <a:off x="-125" y="5045700"/>
            <a:ext cx="9144000" cy="97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" name="Google Shape;23;p4"/>
          <p:cNvCxnSpPr/>
          <p:nvPr/>
        </p:nvCxnSpPr>
        <p:spPr>
          <a:xfrm>
            <a:off x="419425" y="1154195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4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Google Shape;28;p5"/>
          <p:cNvCxnSpPr/>
          <p:nvPr/>
        </p:nvCxnSpPr>
        <p:spPr>
          <a:xfrm>
            <a:off x="419425" y="1154195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" name="Google Shape;29;p5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311700" y="1417950"/>
            <a:ext cx="39999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4832400" y="1417950"/>
            <a:ext cx="39999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Google Shape;37;p7"/>
          <p:cNvCxnSpPr/>
          <p:nvPr/>
        </p:nvCxnSpPr>
        <p:spPr>
          <a:xfrm>
            <a:off x="411044" y="1417772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" name="Google Shape;38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1640350"/>
            <a:ext cx="2808000" cy="29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8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5" name="Google Shape;4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/>
          <p:nvPr/>
        </p:nvSpPr>
        <p:spPr>
          <a:xfrm>
            <a:off x="4572000" y="-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8" name="Google Shape;4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" name="Google Shape;49;p9"/>
          <p:cNvSpPr txBox="1"/>
          <p:nvPr>
            <p:ph type="title"/>
          </p:nvPr>
        </p:nvSpPr>
        <p:spPr>
          <a:xfrm>
            <a:off x="265500" y="1084625"/>
            <a:ext cx="4045200" cy="170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0" name="Google Shape;50;p9"/>
          <p:cNvSpPr txBox="1"/>
          <p:nvPr>
            <p:ph idx="1" type="subTitle"/>
          </p:nvPr>
        </p:nvSpPr>
        <p:spPr>
          <a:xfrm>
            <a:off x="265500" y="2845200"/>
            <a:ext cx="4045200" cy="1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5" name="Google Shape;5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1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1"/>
          <p:cNvSpPr txBox="1"/>
          <p:nvPr>
            <p:ph hasCustomPrompt="1" type="title"/>
          </p:nvPr>
        </p:nvSpPr>
        <p:spPr>
          <a:xfrm>
            <a:off x="586725" y="1353788"/>
            <a:ext cx="79707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0" name="Google Shape;60;p11"/>
          <p:cNvSpPr txBox="1"/>
          <p:nvPr>
            <p:ph idx="1" type="body"/>
          </p:nvPr>
        </p:nvSpPr>
        <p:spPr>
          <a:xfrm>
            <a:off x="586725" y="2968388"/>
            <a:ext cx="79707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lue-gold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  <a:defRPr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www.youtube.com/watch?v=XDUUQ4Bpre0" TargetMode="External"/><Relationship Id="rId4" Type="http://schemas.openxmlformats.org/officeDocument/2006/relationships/image" Target="../media/image1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8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jpg"/><Relationship Id="rId4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jpg"/><Relationship Id="rId4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://www.youtube.com/watch?v=ATFw36BjHuM" TargetMode="External"/><Relationship Id="rId4" Type="http://schemas.openxmlformats.org/officeDocument/2006/relationships/image" Target="../media/image14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"/>
          <p:cNvSpPr txBox="1"/>
          <p:nvPr>
            <p:ph type="ctrTitle"/>
          </p:nvPr>
        </p:nvSpPr>
        <p:spPr>
          <a:xfrm>
            <a:off x="630600" y="136800"/>
            <a:ext cx="7893000" cy="185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4400"/>
              <a:t>TeensyLab V2</a:t>
            </a:r>
            <a:endParaRPr sz="4400"/>
          </a:p>
        </p:txBody>
      </p:sp>
      <p:sp>
        <p:nvSpPr>
          <p:cNvPr id="69" name="Google Shape;69;p13"/>
          <p:cNvSpPr txBox="1"/>
          <p:nvPr>
            <p:ph idx="1" type="subTitle"/>
          </p:nvPr>
        </p:nvSpPr>
        <p:spPr>
          <a:xfrm>
            <a:off x="625500" y="3815100"/>
            <a:ext cx="7893000" cy="127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/>
              <a:t>Building a Digital Guitar-to-Synth System Using Max, JUCE and Teensy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FFFF"/>
                </a:solidFill>
              </a:rPr>
              <a:t>Michael Xie, Spring 2024 Capstone Presentation</a:t>
            </a:r>
            <a:endParaRPr sz="1800">
              <a:solidFill>
                <a:srgbClr val="00FFFF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FFFF"/>
                </a:solidFill>
              </a:rPr>
              <a:t>Advisor: Prof. Steven Litt &amp; Prof. Paul Geluso</a:t>
            </a:r>
            <a:endParaRPr sz="1800">
              <a:solidFill>
                <a:srgbClr val="00FFFF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4425" y="939225"/>
            <a:ext cx="3960250" cy="222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4"/>
          <p:cNvSpPr txBox="1"/>
          <p:nvPr>
            <p:ph idx="1" type="body"/>
          </p:nvPr>
        </p:nvSpPr>
        <p:spPr>
          <a:xfrm>
            <a:off x="311700" y="11610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Goal: Using the tools learned, build a system mimic the guitar-to-synth pedals. The first </a:t>
            </a:r>
            <a:r>
              <a:rPr lang="en"/>
              <a:t>inspiration</a:t>
            </a:r>
            <a:r>
              <a:rPr lang="en"/>
              <a:t> is MIKU KORG, a guitar-to-vocal pedal.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●"/>
            </a:pPr>
            <a:r>
              <a:rPr lang="en">
                <a:solidFill>
                  <a:schemeClr val="accent6"/>
                </a:solidFill>
              </a:rPr>
              <a:t>Miku Korg, Mooer E7, BOSS SY-1</a:t>
            </a:r>
            <a:endParaRPr>
              <a:solidFill>
                <a:schemeClr val="accent6"/>
              </a:solidFill>
            </a:endParaRPr>
          </a:p>
        </p:txBody>
      </p:sp>
      <p:pic>
        <p:nvPicPr>
          <p:cNvPr id="77" name="Google Shape;7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4275" y="2409325"/>
            <a:ext cx="1790250" cy="23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4"/>
          <p:cNvPicPr preferRelativeResize="0"/>
          <p:nvPr/>
        </p:nvPicPr>
        <p:blipFill rotWithShape="1">
          <a:blip r:embed="rId4">
            <a:alphaModFix/>
          </a:blip>
          <a:srcRect b="4929" l="24054" r="19227" t="4120"/>
          <a:stretch/>
        </p:blipFill>
        <p:spPr>
          <a:xfrm>
            <a:off x="3453700" y="2303998"/>
            <a:ext cx="1622562" cy="2601927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4"/>
          <p:cNvPicPr preferRelativeResize="0"/>
          <p:nvPr/>
        </p:nvPicPr>
        <p:blipFill rotWithShape="1">
          <a:blip r:embed="rId5">
            <a:alphaModFix/>
          </a:blip>
          <a:srcRect b="10959" l="16983" r="14060" t="11479"/>
          <a:stretch/>
        </p:blipFill>
        <p:spPr>
          <a:xfrm>
            <a:off x="6172750" y="2123178"/>
            <a:ext cx="1622551" cy="27239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5"/>
          <p:cNvSpPr txBox="1"/>
          <p:nvPr>
            <p:ph idx="1" type="body"/>
          </p:nvPr>
        </p:nvSpPr>
        <p:spPr>
          <a:xfrm>
            <a:off x="311700" y="11610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KORG MIKU STOMPで千本桜を弾いてみた動画。&#10;&#10;MIKU STOMP製品情報&#10;http://www.korg.com/mikustomp&#10;&#10;作詞作曲：黒うさP" id="86" name="Google Shape;86;p15" title="KORG MIKU STOMP〜千本桜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6302" y="1017725"/>
            <a:ext cx="6891400" cy="387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6"/>
          <p:cNvSpPr txBox="1"/>
          <p:nvPr>
            <p:ph idx="1" type="body"/>
          </p:nvPr>
        </p:nvSpPr>
        <p:spPr>
          <a:xfrm>
            <a:off x="311700" y="1106850"/>
            <a:ext cx="8520600" cy="328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Method A: F0 detection/estimation -&gt; midi event. YIN algorithm based on </a:t>
            </a:r>
            <a:r>
              <a:rPr lang="en"/>
              <a:t>autocorrelation method</a:t>
            </a:r>
            <a:r>
              <a:rPr lang="en"/>
              <a:t>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Method B: Transformation in the frequency domain.</a:t>
            </a:r>
            <a:endParaRPr/>
          </a:p>
        </p:txBody>
      </p:sp>
      <p:pic>
        <p:nvPicPr>
          <p:cNvPr id="93" name="Google Shape;9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4275" y="2409325"/>
            <a:ext cx="1790250" cy="23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6"/>
          <p:cNvPicPr preferRelativeResize="0"/>
          <p:nvPr/>
        </p:nvPicPr>
        <p:blipFill rotWithShape="1">
          <a:blip r:embed="rId4">
            <a:alphaModFix/>
          </a:blip>
          <a:srcRect b="4929" l="24054" r="19227" t="4120"/>
          <a:stretch/>
        </p:blipFill>
        <p:spPr>
          <a:xfrm>
            <a:off x="3453700" y="2303998"/>
            <a:ext cx="1622562" cy="26019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6"/>
          <p:cNvPicPr preferRelativeResize="0"/>
          <p:nvPr/>
        </p:nvPicPr>
        <p:blipFill rotWithShape="1">
          <a:blip r:embed="rId5">
            <a:alphaModFix/>
          </a:blip>
          <a:srcRect b="10959" l="16983" r="14060" t="11479"/>
          <a:stretch/>
        </p:blipFill>
        <p:spPr>
          <a:xfrm>
            <a:off x="6172750" y="2123178"/>
            <a:ext cx="1622551" cy="27239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</a:t>
            </a:r>
            <a:r>
              <a:rPr lang="en"/>
              <a:t> Description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7"/>
          <p:cNvSpPr txBox="1"/>
          <p:nvPr>
            <p:ph idx="1" type="body"/>
          </p:nvPr>
        </p:nvSpPr>
        <p:spPr>
          <a:xfrm>
            <a:off x="311700" y="1273000"/>
            <a:ext cx="8520600" cy="32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 Parts: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Max Environment: </a:t>
            </a:r>
            <a:r>
              <a:rPr lang="en">
                <a:solidFill>
                  <a:srgbClr val="FFFF00"/>
                </a:solidFill>
              </a:rPr>
              <a:t>Pitch Tracker Module, host for the vst.</a:t>
            </a:r>
            <a:endParaRPr>
              <a:solidFill>
                <a:srgbClr val="FFFF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VST plugin: </a:t>
            </a:r>
            <a:r>
              <a:rPr lang="en">
                <a:solidFill>
                  <a:srgbClr val="FFFF00"/>
                </a:solidFill>
              </a:rPr>
              <a:t>JX11 plugin, a 2 voice sawtooth virtual analog synth.</a:t>
            </a:r>
            <a:endParaRPr>
              <a:solidFill>
                <a:srgbClr val="FFFF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Hardware teensy control interface: </a:t>
            </a:r>
            <a:r>
              <a:rPr lang="en">
                <a:solidFill>
                  <a:srgbClr val="FFFF00"/>
                </a:solidFill>
              </a:rPr>
              <a:t>Midi </a:t>
            </a:r>
            <a:r>
              <a:rPr lang="en">
                <a:solidFill>
                  <a:srgbClr val="FFFF00"/>
                </a:solidFill>
              </a:rPr>
              <a:t>controller built with Teensy, a prototype with Printed Circuit Board and laser-cut box.</a:t>
            </a:r>
            <a:endParaRPr>
              <a:solidFill>
                <a:srgbClr val="FFFF00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7"/>
          <p:cNvSpPr/>
          <p:nvPr/>
        </p:nvSpPr>
        <p:spPr>
          <a:xfrm>
            <a:off x="342825" y="3474750"/>
            <a:ext cx="7968900" cy="14670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chemeClr val="dk1"/>
              </a:highlight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3" name="Google Shape;103;p17"/>
          <p:cNvSpPr txBox="1"/>
          <p:nvPr/>
        </p:nvSpPr>
        <p:spPr>
          <a:xfrm>
            <a:off x="3842775" y="3438525"/>
            <a:ext cx="969000" cy="1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Max</a:t>
            </a:r>
            <a:endParaRPr b="1" sz="1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4" name="Google Shape;104;p17"/>
          <p:cNvSpPr/>
          <p:nvPr/>
        </p:nvSpPr>
        <p:spPr>
          <a:xfrm>
            <a:off x="2654475" y="3895900"/>
            <a:ext cx="1140900" cy="3804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Pitch Tracker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5" name="Google Shape;105;p17"/>
          <p:cNvSpPr/>
          <p:nvPr/>
        </p:nvSpPr>
        <p:spPr>
          <a:xfrm>
            <a:off x="4067025" y="3895900"/>
            <a:ext cx="482100" cy="29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6" name="Google Shape;106;p17"/>
          <p:cNvSpPr/>
          <p:nvPr/>
        </p:nvSpPr>
        <p:spPr>
          <a:xfrm>
            <a:off x="4820775" y="3895900"/>
            <a:ext cx="1213500" cy="3804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JX11 VST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7" name="Google Shape;107;p17"/>
          <p:cNvSpPr/>
          <p:nvPr/>
        </p:nvSpPr>
        <p:spPr>
          <a:xfrm>
            <a:off x="4549125" y="4638550"/>
            <a:ext cx="1756800" cy="2988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Teensy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8" name="Google Shape;108;p17"/>
          <p:cNvSpPr/>
          <p:nvPr/>
        </p:nvSpPr>
        <p:spPr>
          <a:xfrm>
            <a:off x="7059675" y="3895900"/>
            <a:ext cx="1140900" cy="3804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Audio Out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5333175" y="4308025"/>
            <a:ext cx="188700" cy="2988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0" name="Google Shape;110;p17"/>
          <p:cNvSpPr/>
          <p:nvPr/>
        </p:nvSpPr>
        <p:spPr>
          <a:xfrm>
            <a:off x="6305925" y="3895900"/>
            <a:ext cx="482100" cy="29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1" name="Google Shape;111;p17"/>
          <p:cNvSpPr/>
          <p:nvPr/>
        </p:nvSpPr>
        <p:spPr>
          <a:xfrm>
            <a:off x="442425" y="3895900"/>
            <a:ext cx="1140900" cy="3804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Guitar In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2" name="Google Shape;112;p17"/>
          <p:cNvSpPr/>
          <p:nvPr/>
        </p:nvSpPr>
        <p:spPr>
          <a:xfrm>
            <a:off x="1877850" y="3895900"/>
            <a:ext cx="482100" cy="29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Max Environment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8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00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9950" y="1148500"/>
            <a:ext cx="5505450" cy="349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JX11 VST Plugin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9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00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00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6" name="Google Shape;12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0498" y="1190175"/>
            <a:ext cx="3493976" cy="3606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45552" y="1190175"/>
            <a:ext cx="2749475" cy="355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JX11 VST Plugin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0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00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4" name="Google Shape;13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0925" y="1017725"/>
            <a:ext cx="5802150" cy="371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Control Interface with Teensy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1"/>
          <p:cNvSpPr txBox="1"/>
          <p:nvPr>
            <p:ph idx="1" type="body"/>
          </p:nvPr>
        </p:nvSpPr>
        <p:spPr>
          <a:xfrm>
            <a:off x="6206250" y="1417800"/>
            <a:ext cx="26262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00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1" name="Google Shape;14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025" y="1793875"/>
            <a:ext cx="4264451" cy="239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28600" y="1793875"/>
            <a:ext cx="4264451" cy="2398757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1"/>
          <p:cNvSpPr txBox="1"/>
          <p:nvPr>
            <p:ph idx="1" type="body"/>
          </p:nvPr>
        </p:nvSpPr>
        <p:spPr>
          <a:xfrm>
            <a:off x="311700" y="12973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00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Control Interface with Teensy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2"/>
          <p:cNvSpPr txBox="1"/>
          <p:nvPr>
            <p:ph idx="1" type="body"/>
          </p:nvPr>
        </p:nvSpPr>
        <p:spPr>
          <a:xfrm>
            <a:off x="6206250" y="1417800"/>
            <a:ext cx="26262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Char char="●"/>
            </a:pPr>
            <a:r>
              <a:rPr lang="en">
                <a:solidFill>
                  <a:srgbClr val="FFFF00"/>
                </a:solidFill>
              </a:rPr>
              <a:t>Encoder * 1</a:t>
            </a:r>
            <a:endParaRPr>
              <a:solidFill>
                <a:srgbClr val="FFFF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Char char="●"/>
            </a:pPr>
            <a:r>
              <a:rPr lang="en">
                <a:solidFill>
                  <a:srgbClr val="FFFF00"/>
                </a:solidFill>
              </a:rPr>
              <a:t>Potentiometer * 18</a:t>
            </a:r>
            <a:endParaRPr>
              <a:solidFill>
                <a:srgbClr val="FFFF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Char char="●"/>
            </a:pPr>
            <a:r>
              <a:rPr lang="en">
                <a:solidFill>
                  <a:srgbClr val="FFFF00"/>
                </a:solidFill>
              </a:rPr>
              <a:t>2 Switches</a:t>
            </a:r>
            <a:endParaRPr>
              <a:solidFill>
                <a:srgbClr val="FFFF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Char char="●"/>
            </a:pPr>
            <a:r>
              <a:rPr lang="en">
                <a:solidFill>
                  <a:srgbClr val="FFFF00"/>
                </a:solidFill>
              </a:rPr>
              <a:t>Neopixel LED</a:t>
            </a:r>
            <a:endParaRPr>
              <a:solidFill>
                <a:srgbClr val="FFFF00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0" name="Google Shape;15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549950" y="159563"/>
            <a:ext cx="3190875" cy="566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3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Control Interface with Teensy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3"/>
          <p:cNvSpPr txBox="1"/>
          <p:nvPr>
            <p:ph idx="1" type="body"/>
          </p:nvPr>
        </p:nvSpPr>
        <p:spPr>
          <a:xfrm>
            <a:off x="6206250" y="1417800"/>
            <a:ext cx="26262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Char char="●"/>
            </a:pPr>
            <a:r>
              <a:rPr lang="en">
                <a:solidFill>
                  <a:srgbClr val="FFFF00"/>
                </a:solidFill>
              </a:rPr>
              <a:t>Encoder * 1</a:t>
            </a:r>
            <a:endParaRPr>
              <a:solidFill>
                <a:srgbClr val="FFFF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Char char="●"/>
            </a:pPr>
            <a:r>
              <a:rPr lang="en">
                <a:solidFill>
                  <a:srgbClr val="FFFF00"/>
                </a:solidFill>
              </a:rPr>
              <a:t>Potentiometer * 18</a:t>
            </a:r>
            <a:endParaRPr>
              <a:solidFill>
                <a:srgbClr val="FFFF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Char char="●"/>
            </a:pPr>
            <a:r>
              <a:rPr lang="en">
                <a:solidFill>
                  <a:srgbClr val="FFFF00"/>
                </a:solidFill>
              </a:rPr>
              <a:t>2 Switches</a:t>
            </a:r>
            <a:endParaRPr>
              <a:solidFill>
                <a:srgbClr val="FFFF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Char char="●"/>
            </a:pPr>
            <a:r>
              <a:rPr lang="en">
                <a:solidFill>
                  <a:srgbClr val="FFFF00"/>
                </a:solidFill>
              </a:rPr>
              <a:t>Neopixel LED</a:t>
            </a:r>
            <a:endParaRPr>
              <a:solidFill>
                <a:srgbClr val="FFFF00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23"/>
          <p:cNvPicPr preferRelativeResize="0"/>
          <p:nvPr/>
        </p:nvPicPr>
        <p:blipFill rotWithShape="1">
          <a:blip r:embed="rId3">
            <a:alphaModFix/>
          </a:blip>
          <a:srcRect b="7863" l="13769" r="12598" t="19997"/>
          <a:stretch/>
        </p:blipFill>
        <p:spPr>
          <a:xfrm>
            <a:off x="311700" y="1365274"/>
            <a:ext cx="5717208" cy="315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4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Control Interface with Teensy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4"/>
          <p:cNvSpPr txBox="1"/>
          <p:nvPr>
            <p:ph idx="1" type="body"/>
          </p:nvPr>
        </p:nvSpPr>
        <p:spPr>
          <a:xfrm>
            <a:off x="6206250" y="1417800"/>
            <a:ext cx="26262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Char char="●"/>
            </a:pPr>
            <a:r>
              <a:rPr lang="en">
                <a:solidFill>
                  <a:srgbClr val="FFFF00"/>
                </a:solidFill>
              </a:rPr>
              <a:t>Encoder * 1</a:t>
            </a:r>
            <a:endParaRPr>
              <a:solidFill>
                <a:srgbClr val="FFFF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Char char="●"/>
            </a:pPr>
            <a:r>
              <a:rPr lang="en">
                <a:solidFill>
                  <a:srgbClr val="FFFF00"/>
                </a:solidFill>
              </a:rPr>
              <a:t>Potentiometer * 18</a:t>
            </a:r>
            <a:endParaRPr>
              <a:solidFill>
                <a:srgbClr val="FFFF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Char char="●"/>
            </a:pPr>
            <a:r>
              <a:rPr lang="en">
                <a:solidFill>
                  <a:srgbClr val="FFFF00"/>
                </a:solidFill>
              </a:rPr>
              <a:t>2 Switches</a:t>
            </a:r>
            <a:endParaRPr>
              <a:solidFill>
                <a:srgbClr val="FFFF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Char char="●"/>
            </a:pPr>
            <a:r>
              <a:rPr lang="en">
                <a:solidFill>
                  <a:srgbClr val="FFFF00"/>
                </a:solidFill>
              </a:rPr>
              <a:t>Neopixel LED</a:t>
            </a:r>
            <a:endParaRPr>
              <a:solidFill>
                <a:srgbClr val="FFFF00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4" name="Google Shape;16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5943600" cy="323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5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Control Interface with Teensy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5"/>
          <p:cNvSpPr txBox="1"/>
          <p:nvPr>
            <p:ph idx="1" type="body"/>
          </p:nvPr>
        </p:nvSpPr>
        <p:spPr>
          <a:xfrm>
            <a:off x="6206250" y="1417800"/>
            <a:ext cx="26262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Char char="●"/>
            </a:pPr>
            <a:r>
              <a:rPr lang="en">
                <a:solidFill>
                  <a:srgbClr val="FFFF00"/>
                </a:solidFill>
              </a:rPr>
              <a:t>Encoder * 1</a:t>
            </a:r>
            <a:endParaRPr>
              <a:solidFill>
                <a:srgbClr val="FFFF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Char char="●"/>
            </a:pPr>
            <a:r>
              <a:rPr lang="en">
                <a:solidFill>
                  <a:srgbClr val="FFFF00"/>
                </a:solidFill>
              </a:rPr>
              <a:t>Potentiometer * 18</a:t>
            </a:r>
            <a:endParaRPr>
              <a:solidFill>
                <a:srgbClr val="FFFF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Char char="●"/>
            </a:pPr>
            <a:r>
              <a:rPr lang="en">
                <a:solidFill>
                  <a:srgbClr val="FFFF00"/>
                </a:solidFill>
              </a:rPr>
              <a:t>2 Switches</a:t>
            </a:r>
            <a:endParaRPr>
              <a:solidFill>
                <a:srgbClr val="FFFF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1800"/>
              <a:buChar char="●"/>
            </a:pPr>
            <a:r>
              <a:rPr lang="en">
                <a:solidFill>
                  <a:srgbClr val="FFFF00"/>
                </a:solidFill>
              </a:rPr>
              <a:t>Neopixel LED</a:t>
            </a:r>
            <a:endParaRPr>
              <a:solidFill>
                <a:srgbClr val="FFFF00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1" name="Google Shape;171;p25"/>
          <p:cNvPicPr preferRelativeResize="0"/>
          <p:nvPr/>
        </p:nvPicPr>
        <p:blipFill rotWithShape="1">
          <a:blip r:embed="rId3">
            <a:alphaModFix/>
          </a:blip>
          <a:srcRect b="25817" l="12724" r="16584" t="25880"/>
          <a:stretch/>
        </p:blipFill>
        <p:spPr>
          <a:xfrm>
            <a:off x="237425" y="1724075"/>
            <a:ext cx="5968825" cy="229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6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Control Interface with Teensy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7" name="Google Shape;177;p26"/>
          <p:cNvPicPr preferRelativeResize="0"/>
          <p:nvPr/>
        </p:nvPicPr>
        <p:blipFill rotWithShape="1">
          <a:blip r:embed="rId3">
            <a:alphaModFix/>
          </a:blip>
          <a:srcRect b="2636" l="3277" r="4920" t="3219"/>
          <a:stretch/>
        </p:blipFill>
        <p:spPr>
          <a:xfrm rot="-5400000">
            <a:off x="1195662" y="510051"/>
            <a:ext cx="2263850" cy="4123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8275" y="1283338"/>
            <a:ext cx="3777975" cy="257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7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Control Interface with Teensy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4" name="Google Shape;184;p27"/>
          <p:cNvPicPr preferRelativeResize="0"/>
          <p:nvPr/>
        </p:nvPicPr>
        <p:blipFill rotWithShape="1">
          <a:blip r:embed="rId3">
            <a:alphaModFix/>
          </a:blip>
          <a:srcRect b="33553" l="39752" r="12707" t="18216"/>
          <a:stretch/>
        </p:blipFill>
        <p:spPr>
          <a:xfrm rot="-5400000">
            <a:off x="1416750" y="1055275"/>
            <a:ext cx="1901650" cy="342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7"/>
          <p:cNvPicPr preferRelativeResize="0"/>
          <p:nvPr/>
        </p:nvPicPr>
        <p:blipFill rotWithShape="1">
          <a:blip r:embed="rId4">
            <a:alphaModFix/>
          </a:blip>
          <a:srcRect b="34025" l="-2140" r="43814" t="-1401"/>
          <a:stretch/>
        </p:blipFill>
        <p:spPr>
          <a:xfrm>
            <a:off x="4721150" y="1392000"/>
            <a:ext cx="3531625" cy="275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8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8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2" name="Google Shape;192;p28" title="Capstone demo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08700" y="817350"/>
            <a:ext cx="6838925" cy="384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9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Work</a:t>
            </a:r>
            <a:endParaRPr/>
          </a:p>
        </p:txBody>
      </p:sp>
      <p:sp>
        <p:nvSpPr>
          <p:cNvPr id="198" name="Google Shape;198;p29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317182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Add sample-based synthesis, which was expected to accomplish when proposing the project.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182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Improve pitch tracking: using other tools available, midi debounce mechanism, distinguish between a new note event and vibrato/pitch bending.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182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Expand max patch, put in midi effects. A note in, a chord out.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182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Machine Learning Timbre transfer, DDSP from Google Magenta. With ML, DDSP can transform bird singing to violin playing.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0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204" name="Google Shape;204;p30"/>
          <p:cNvSpPr txBox="1"/>
          <p:nvPr>
            <p:ph idx="1" type="body"/>
          </p:nvPr>
        </p:nvSpPr>
        <p:spPr>
          <a:xfrm>
            <a:off x="311700" y="1417800"/>
            <a:ext cx="8520600" cy="35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4768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987"/>
              <a:buChar char="●"/>
            </a:pPr>
            <a:r>
              <a:rPr lang="en" sz="1986"/>
              <a:t>A better u</a:t>
            </a:r>
            <a:r>
              <a:rPr lang="en" sz="1986"/>
              <a:t>nderstanding of </a:t>
            </a:r>
            <a:r>
              <a:rPr lang="en" sz="1986"/>
              <a:t>structure</a:t>
            </a:r>
            <a:r>
              <a:rPr lang="en" sz="1986"/>
              <a:t>/life-cycle of an audio plugin</a:t>
            </a:r>
            <a:endParaRPr sz="1986"/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1986"/>
          </a:p>
          <a:p>
            <a:pPr indent="-354768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987"/>
              <a:buChar char="●"/>
            </a:pPr>
            <a:r>
              <a:rPr lang="en" sz="1986"/>
              <a:t>A continue practice of electronics</a:t>
            </a:r>
            <a:endParaRPr sz="1986"/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1986"/>
          </a:p>
          <a:p>
            <a:pPr indent="-354768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987"/>
              <a:buChar char="●"/>
            </a:pPr>
            <a:r>
              <a:rPr lang="en" sz="1986"/>
              <a:t>A good summary of my study in the undergrad program</a:t>
            </a:r>
            <a:endParaRPr sz="1986"/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1986"/>
          </a:p>
          <a:p>
            <a:pPr indent="-354768" lvl="0" marL="4572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1987"/>
              <a:buChar char="●"/>
            </a:pPr>
            <a:r>
              <a:rPr lang="en" sz="1986"/>
              <a:t>A stepping stone for future work in the master</a:t>
            </a:r>
            <a:endParaRPr sz="1986"/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1060"/>
          </a:p>
          <a:p>
            <a:pPr indent="0" lvl="0" marL="45720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t/>
            </a:r>
            <a:endParaRPr sz="106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1"/>
          <p:cNvSpPr txBox="1"/>
          <p:nvPr>
            <p:ph type="title"/>
          </p:nvPr>
        </p:nvSpPr>
        <p:spPr>
          <a:xfrm>
            <a:off x="586725" y="1353788"/>
            <a:ext cx="79707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7119"/>
              <a:t>Thank you!</a:t>
            </a:r>
            <a:endParaRPr sz="7119"/>
          </a:p>
        </p:txBody>
      </p:sp>
      <p:sp>
        <p:nvSpPr>
          <p:cNvPr id="210" name="Google Shape;210;p31"/>
          <p:cNvSpPr txBox="1"/>
          <p:nvPr>
            <p:ph idx="1" type="body"/>
          </p:nvPr>
        </p:nvSpPr>
        <p:spPr>
          <a:xfrm>
            <a:off x="586725" y="2968388"/>
            <a:ext cx="79707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2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</a:t>
            </a:r>
            <a:endParaRPr/>
          </a:p>
        </p:txBody>
      </p:sp>
      <p:sp>
        <p:nvSpPr>
          <p:cNvPr id="216" name="Google Shape;216;p32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Alain de Cheveigne, and Hideki Kawahara. “Yin, a Fundamental Frequency Estimator for Speech and Music.” Http://Audition.Ens.Fr/Adc/Pdf/2002_JASA_YIN.Pdf, audition.ens.fr/adc/pdf/2002_JASA_YIN.pdf. Accessed 11 Dec. 2023. 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Roads, Curtis. The Computer Music Tutorial. The MIT Press, 2023.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Hollemans, Matthijs. Code Your Own Synth Plug-Ins with C++ and JUCE. Independently Published, 2023.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Pirkle, William C. Designing Audio Effect Plugins in C++: For AAX, AU, and VST3 with DSP Theory. Routledge, 2019.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lue &amp; Gold">
  <a:themeElements>
    <a:clrScheme name="Blue &amp; Gold">
      <a:dk1>
        <a:srgbClr val="FFFFFF"/>
      </a:dk1>
      <a:lt1>
        <a:srgbClr val="01AFD1"/>
      </a:lt1>
      <a:dk2>
        <a:srgbClr val="1E2D31"/>
      </a:dk2>
      <a:lt2>
        <a:srgbClr val="BFC7CA"/>
      </a:lt2>
      <a:accent1>
        <a:srgbClr val="006F85"/>
      </a:accent1>
      <a:accent2>
        <a:srgbClr val="AF4345"/>
      </a:accent2>
      <a:accent3>
        <a:srgbClr val="47D06A"/>
      </a:accent3>
      <a:accent4>
        <a:srgbClr val="F58F8F"/>
      </a:accent4>
      <a:accent5>
        <a:srgbClr val="F6CD4C"/>
      </a:accent5>
      <a:accent6>
        <a:srgbClr val="F8E71C"/>
      </a:accent6>
      <a:hlink>
        <a:srgbClr val="F6CD4C"/>
      </a:hlink>
      <a:folHlink>
        <a:srgbClr val="F6CD4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